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8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71" r:id="rId11"/>
    <p:sldId id="272" r:id="rId12"/>
    <p:sldId id="273" r:id="rId13"/>
    <p:sldId id="270" r:id="rId14"/>
    <p:sldId id="263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76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38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89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35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6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090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027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7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63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39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2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02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447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463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41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063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8119CF5-B2E4-466B-9B77-D8A8C5F373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E8441F0-D92D-4FCD-920D-2EA434FAE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32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829C-E59F-5E67-F904-329BDB3EA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b="1" dirty="0" err="1">
                <a:solidFill>
                  <a:schemeClr val="tx1"/>
                </a:solidFill>
                <a:latin typeface="Algerian" panose="04020705040A02060702" pitchFamily="82" charset="0"/>
                <a:ea typeface="Trochut"/>
                <a:cs typeface="Trochut"/>
                <a:sym typeface="Trochut"/>
              </a:rPr>
              <a:t>CampusEventHub</a:t>
            </a:r>
            <a:br>
              <a:rPr lang="en-US" sz="4000" b="1" dirty="0">
                <a:solidFill>
                  <a:schemeClr val="tx1"/>
                </a:solidFill>
                <a:latin typeface="Swis721 WGL4 BT" panose="020B0504020202020204" pitchFamily="34" charset="0"/>
                <a:ea typeface="Trochut"/>
                <a:cs typeface="Trochut"/>
                <a:sym typeface="Trochut"/>
              </a:rPr>
            </a:br>
            <a:br>
              <a:rPr lang="en-US" sz="4000" b="1" dirty="0">
                <a:solidFill>
                  <a:schemeClr val="tx1"/>
                </a:solidFill>
                <a:latin typeface="Swis721 WGL4 BT" panose="020B0504020202020204" pitchFamily="34" charset="0"/>
                <a:ea typeface="Trochut"/>
                <a:cs typeface="Trochut"/>
                <a:sym typeface="Trochut"/>
              </a:rPr>
            </a:br>
            <a:endParaRPr lang="en-IN" sz="1800" b="1" dirty="0">
              <a:solidFill>
                <a:schemeClr val="tx1"/>
              </a:solidFill>
              <a:latin typeface="Swis721 WGL4 BT" panose="020B05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BCE84-DE47-D790-7F69-0221BDAC2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4871" y="3886200"/>
            <a:ext cx="9977377" cy="1905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Light" panose="020B0502040204020203" pitchFamily="34" charset="0"/>
                <a:ea typeface="Arial"/>
                <a:cs typeface="Arial"/>
                <a:sym typeface="Arial"/>
              </a:rPr>
              <a:t>INTER COLLEGE EVENT MANAGEMENT PLATFORM</a:t>
            </a:r>
            <a:endParaRPr lang="en-US" sz="2800" b="1" dirty="0">
              <a:solidFill>
                <a:schemeClr val="tx1">
                  <a:lumMod val="50000"/>
                  <a:lumOff val="50000"/>
                </a:schemeClr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4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B2E8-F6EF-3F41-EE32-B2E297CAB0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1023"/>
            <a:ext cx="12192000" cy="6551271"/>
          </a:xfrm>
        </p:spPr>
        <p:txBody>
          <a:bodyPr>
            <a:normAutofit fontScale="90000"/>
          </a:bodyPr>
          <a:lstStyle/>
          <a:p>
            <a:r>
              <a:rPr lang="en-US" sz="4000" u="sng" dirty="0">
                <a:solidFill>
                  <a:schemeClr val="tx1"/>
                </a:solidFill>
                <a:latin typeface="Stencil" panose="040409050D0802020404" pitchFamily="82" charset="0"/>
                <a:ea typeface="Times"/>
                <a:cs typeface="Times"/>
                <a:sym typeface="Times"/>
              </a:rPr>
              <a:t>Technology Stack</a:t>
            </a:r>
            <a:br>
              <a:rPr lang="en-US" sz="4000" u="sng" dirty="0">
                <a:solidFill>
                  <a:schemeClr val="tx1"/>
                </a:solidFill>
                <a:latin typeface="Stencil" panose="040409050D0802020404" pitchFamily="82" charset="0"/>
                <a:ea typeface="Times"/>
                <a:cs typeface="Times"/>
                <a:sym typeface="Times"/>
              </a:rPr>
            </a:br>
            <a:br>
              <a:rPr lang="en-US" sz="4000" dirty="0">
                <a:solidFill>
                  <a:schemeClr val="tx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MongoDB:- </a:t>
            </a:r>
            <a:r>
              <a:rPr lang="en-US" sz="3100" cap="none" dirty="0">
                <a:solidFill>
                  <a:srgbClr val="FDFF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MongoDB provides a flexible document structure, ideal for handling various data types efficiently.</a:t>
            </a:r>
            <a:b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Express.js:-</a:t>
            </a:r>
            <a:r>
              <a:rPr lang="en-US" sz="3100" cap="none" dirty="0">
                <a:solidFill>
                  <a:srgbClr val="FDFF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Express.js simplifies server-side development, enabling quick API creation with minimal overhead for applications.</a:t>
            </a:r>
            <a:b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100" cap="none" dirty="0">
                <a:solidFill>
                  <a:srgbClr val="FDFF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Angular:-  </a:t>
            </a:r>
            <a:r>
              <a:rPr lang="en-US" sz="3100" cap="none" dirty="0">
                <a:solidFill>
                  <a:srgbClr val="FDFF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Angular is a TypeScript-based framework by Google for building dynamic web applications.</a:t>
            </a: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Node.js:-</a:t>
            </a:r>
            <a:r>
              <a:rPr lang="en-US" sz="3100" cap="none" dirty="0">
                <a:solidFill>
                  <a:srgbClr val="FDFF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Node.js lets developers use JavaScript to write command line tools and server-side scripting.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479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26;p3">
            <a:extLst>
              <a:ext uri="{FF2B5EF4-FFF2-40B4-BE49-F238E27FC236}">
                <a16:creationId xmlns:a16="http://schemas.microsoft.com/office/drawing/2014/main" id="{7145AB6E-E8B8-DBFF-4CE0-388CC72051AE}"/>
              </a:ext>
            </a:extLst>
          </p:cNvPr>
          <p:cNvGrpSpPr/>
          <p:nvPr/>
        </p:nvGrpSpPr>
        <p:grpSpPr>
          <a:xfrm>
            <a:off x="8490854" y="3675974"/>
            <a:ext cx="3426825" cy="2714589"/>
            <a:chOff x="-2423567" y="-2000433"/>
            <a:chExt cx="7508306" cy="7525548"/>
          </a:xfrm>
        </p:grpSpPr>
        <p:sp>
          <p:nvSpPr>
            <p:cNvPr id="19" name="Google Shape;127;p3">
              <a:extLst>
                <a:ext uri="{FF2B5EF4-FFF2-40B4-BE49-F238E27FC236}">
                  <a16:creationId xmlns:a16="http://schemas.microsoft.com/office/drawing/2014/main" id="{16FD25B2-E299-A98D-D934-F4D660CD7E13}"/>
                </a:ext>
              </a:extLst>
            </p:cNvPr>
            <p:cNvSpPr txBox="1"/>
            <p:nvPr/>
          </p:nvSpPr>
          <p:spPr>
            <a:xfrm>
              <a:off x="-2423567" y="-2000433"/>
              <a:ext cx="7264400" cy="7525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chemeClr val="tx2">
                      <a:lumMod val="90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Interactive Feedback System</a:t>
              </a:r>
            </a:p>
            <a:p>
              <a:pPr algn="ctr">
                <a:lnSpc>
                  <a:spcPct val="120009"/>
                </a:lnSpc>
              </a:pPr>
              <a:r>
                <a:rPr lang="en-US" sz="2100" dirty="0">
                  <a:solidFill>
                    <a:schemeClr val="tx2">
                      <a:lumMod val="9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Attendees provide valuable insights, enhancing future events and user satisfaction.</a:t>
              </a:r>
              <a:endParaRPr lang="en-US" sz="2100" dirty="0">
                <a:solidFill>
                  <a:schemeClr val="tx2">
                    <a:lumMod val="90000"/>
                  </a:schemeClr>
                </a:solidFill>
              </a:endParaRPr>
            </a:p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  <p:sp>
          <p:nvSpPr>
            <p:cNvPr id="20" name="Google Shape;128;p3">
              <a:extLst>
                <a:ext uri="{FF2B5EF4-FFF2-40B4-BE49-F238E27FC236}">
                  <a16:creationId xmlns:a16="http://schemas.microsoft.com/office/drawing/2014/main" id="{E3415F59-C0AD-870B-F15B-3200A61E8F79}"/>
                </a:ext>
              </a:extLst>
            </p:cNvPr>
            <p:cNvSpPr txBox="1"/>
            <p:nvPr/>
          </p:nvSpPr>
          <p:spPr>
            <a:xfrm>
              <a:off x="-1702965" y="639197"/>
              <a:ext cx="6787704" cy="921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</p:grpSp>
      <p:grpSp>
        <p:nvGrpSpPr>
          <p:cNvPr id="21" name="Google Shape;129;p3">
            <a:extLst>
              <a:ext uri="{FF2B5EF4-FFF2-40B4-BE49-F238E27FC236}">
                <a16:creationId xmlns:a16="http://schemas.microsoft.com/office/drawing/2014/main" id="{3E7442DA-D673-0209-FE85-2E0B46FC2E8C}"/>
              </a:ext>
            </a:extLst>
          </p:cNvPr>
          <p:cNvGrpSpPr/>
          <p:nvPr/>
        </p:nvGrpSpPr>
        <p:grpSpPr>
          <a:xfrm>
            <a:off x="3843881" y="3748477"/>
            <a:ext cx="3909871" cy="2271391"/>
            <a:chOff x="0" y="-1784582"/>
            <a:chExt cx="8566679" cy="6296888"/>
          </a:xfrm>
        </p:grpSpPr>
        <p:sp>
          <p:nvSpPr>
            <p:cNvPr id="22" name="Google Shape;130;p3">
              <a:extLst>
                <a:ext uri="{FF2B5EF4-FFF2-40B4-BE49-F238E27FC236}">
                  <a16:creationId xmlns:a16="http://schemas.microsoft.com/office/drawing/2014/main" id="{06DB8C85-18E3-A660-223F-E5D4889B4E98}"/>
                </a:ext>
              </a:extLst>
            </p:cNvPr>
            <p:cNvSpPr txBox="1"/>
            <p:nvPr/>
          </p:nvSpPr>
          <p:spPr>
            <a:xfrm>
              <a:off x="1302279" y="-1784582"/>
              <a:ext cx="7264400" cy="6296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chemeClr val="tx2">
                      <a:lumMod val="90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Seamless Registration Process</a:t>
              </a:r>
            </a:p>
            <a:p>
              <a:pPr algn="ctr">
                <a:lnSpc>
                  <a:spcPct val="120009"/>
                </a:lnSpc>
              </a:pPr>
              <a:r>
                <a:rPr lang="en-US" sz="2100" dirty="0">
                  <a:solidFill>
                    <a:schemeClr val="tx2">
                      <a:lumMod val="9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Participants can register in just a few clicks, ensuring a smooth user experience.</a:t>
              </a:r>
              <a:endParaRPr lang="en-US" sz="2100" dirty="0">
                <a:solidFill>
                  <a:schemeClr val="tx2">
                    <a:lumMod val="90000"/>
                  </a:schemeClr>
                </a:solidFill>
              </a:endParaRPr>
            </a:p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  <p:sp>
          <p:nvSpPr>
            <p:cNvPr id="23" name="Google Shape;131;p3">
              <a:extLst>
                <a:ext uri="{FF2B5EF4-FFF2-40B4-BE49-F238E27FC236}">
                  <a16:creationId xmlns:a16="http://schemas.microsoft.com/office/drawing/2014/main" id="{FB314225-2F36-CCCC-ACCA-F20194089B32}"/>
                </a:ext>
              </a:extLst>
            </p:cNvPr>
            <p:cNvSpPr txBox="1"/>
            <p:nvPr/>
          </p:nvSpPr>
          <p:spPr>
            <a:xfrm>
              <a:off x="0" y="654051"/>
              <a:ext cx="5346700" cy="921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</p:grpSp>
      <p:grpSp>
        <p:nvGrpSpPr>
          <p:cNvPr id="24" name="Google Shape;132;p3">
            <a:extLst>
              <a:ext uri="{FF2B5EF4-FFF2-40B4-BE49-F238E27FC236}">
                <a16:creationId xmlns:a16="http://schemas.microsoft.com/office/drawing/2014/main" id="{9029BA75-FBF2-D5A2-2290-F08E5DB0B116}"/>
              </a:ext>
            </a:extLst>
          </p:cNvPr>
          <p:cNvGrpSpPr/>
          <p:nvPr/>
        </p:nvGrpSpPr>
        <p:grpSpPr>
          <a:xfrm>
            <a:off x="159825" y="3033639"/>
            <a:ext cx="3541320" cy="2932756"/>
            <a:chOff x="1803806" y="-7621804"/>
            <a:chExt cx="5872853" cy="2777617"/>
          </a:xfrm>
        </p:grpSpPr>
        <p:sp>
          <p:nvSpPr>
            <p:cNvPr id="25" name="Google Shape;133;p3">
              <a:extLst>
                <a:ext uri="{FF2B5EF4-FFF2-40B4-BE49-F238E27FC236}">
                  <a16:creationId xmlns:a16="http://schemas.microsoft.com/office/drawing/2014/main" id="{AA3CB7EA-E4B8-7725-5DCF-81E73B6A0EF6}"/>
                </a:ext>
              </a:extLst>
            </p:cNvPr>
            <p:cNvSpPr txBox="1"/>
            <p:nvPr/>
          </p:nvSpPr>
          <p:spPr>
            <a:xfrm>
              <a:off x="1803806" y="-7621804"/>
              <a:ext cx="5346699" cy="314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  <p:sp>
          <p:nvSpPr>
            <p:cNvPr id="26" name="Google Shape;134;p3">
              <a:extLst>
                <a:ext uri="{FF2B5EF4-FFF2-40B4-BE49-F238E27FC236}">
                  <a16:creationId xmlns:a16="http://schemas.microsoft.com/office/drawing/2014/main" id="{74492558-CCDC-44C5-EFFF-D124570D24ED}"/>
                </a:ext>
              </a:extLst>
            </p:cNvPr>
            <p:cNvSpPr txBox="1"/>
            <p:nvPr/>
          </p:nvSpPr>
          <p:spPr>
            <a:xfrm>
              <a:off x="2641996" y="-6942955"/>
              <a:ext cx="5034663" cy="2098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algn="ctr">
                <a:lnSpc>
                  <a:spcPct val="120009"/>
                </a:lnSpc>
              </a:pPr>
              <a:r>
                <a:rPr lang="en-US" sz="2000" b="1" dirty="0">
                  <a:solidFill>
                    <a:schemeClr val="tx2">
                      <a:lumMod val="90000"/>
                    </a:schemeClr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Event Creation Made Easy</a:t>
              </a:r>
              <a:endParaRPr lang="en-US" sz="2000" dirty="0">
                <a:solidFill>
                  <a:schemeClr val="tx2">
                    <a:lumMod val="90000"/>
                  </a:schemeClr>
                </a:solidFill>
              </a:endParaRPr>
            </a:p>
            <a:p>
              <a:pPr marL="0" marR="0" lvl="0" indent="0" algn="ctr" rtl="0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tx2">
                      <a:lumMod val="9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lang="en-US" sz="2000" b="0" i="0" u="none" strike="noStrike" cap="none" dirty="0">
                  <a:solidFill>
                    <a:schemeClr val="tx2">
                      <a:lumMod val="90000"/>
                    </a:schemeClr>
                  </a:solidFill>
                  <a:latin typeface="Arial"/>
                  <a:ea typeface="Arial"/>
                  <a:cs typeface="Arial"/>
                  <a:sym typeface="Arial"/>
                </a:rPr>
                <a:t>sers can effortlessly set up events with clear, guided steps and customizable options.</a:t>
              </a:r>
              <a:endParaRPr sz="2000" dirty="0">
                <a:solidFill>
                  <a:schemeClr val="tx2">
                    <a:lumMod val="90000"/>
                  </a:schemeClr>
                </a:solidFill>
              </a:endParaRPr>
            </a:p>
          </p:txBody>
        </p:sp>
      </p:grpSp>
      <p:sp>
        <p:nvSpPr>
          <p:cNvPr id="27" name="Google Shape;135;p3">
            <a:extLst>
              <a:ext uri="{FF2B5EF4-FFF2-40B4-BE49-F238E27FC236}">
                <a16:creationId xmlns:a16="http://schemas.microsoft.com/office/drawing/2014/main" id="{80169576-32BD-10ED-857F-8C87DD779902}"/>
              </a:ext>
            </a:extLst>
          </p:cNvPr>
          <p:cNvSpPr txBox="1"/>
          <p:nvPr/>
        </p:nvSpPr>
        <p:spPr>
          <a:xfrm>
            <a:off x="514870" y="533401"/>
            <a:ext cx="115704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 of </a:t>
            </a:r>
            <a:r>
              <a:rPr lang="en-US" sz="4000" b="1" i="0" u="none" strike="noStrike" cap="none" dirty="0" err="1">
                <a:solidFill>
                  <a:schemeClr val="tx2">
                    <a:lumMod val="90000"/>
                  </a:schemeClr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CampusEventHub</a:t>
            </a:r>
            <a:r>
              <a:rPr lang="en-US" sz="4000" b="1" i="0" u="none" strike="noStrike" cap="none" dirty="0">
                <a:solidFill>
                  <a:schemeClr val="tx2">
                    <a:lumMod val="90000"/>
                  </a:schemeClr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 Platform</a:t>
            </a:r>
            <a:endParaRPr sz="1000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28" name="Google Shape;136;p3">
            <a:extLst>
              <a:ext uri="{FF2B5EF4-FFF2-40B4-BE49-F238E27FC236}">
                <a16:creationId xmlns:a16="http://schemas.microsoft.com/office/drawing/2014/main" id="{2A3D73AF-90D1-FE74-EBFE-275EA3C10B73}"/>
              </a:ext>
            </a:extLst>
          </p:cNvPr>
          <p:cNvSpPr/>
          <p:nvPr/>
        </p:nvSpPr>
        <p:spPr>
          <a:xfrm>
            <a:off x="514870" y="1766089"/>
            <a:ext cx="3315505" cy="1722494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29" name="Google Shape;137;p3">
            <a:extLst>
              <a:ext uri="{FF2B5EF4-FFF2-40B4-BE49-F238E27FC236}">
                <a16:creationId xmlns:a16="http://schemas.microsoft.com/office/drawing/2014/main" id="{174DC30A-79B7-B051-F586-AF4D565E6068}"/>
              </a:ext>
            </a:extLst>
          </p:cNvPr>
          <p:cNvSpPr/>
          <p:nvPr/>
        </p:nvSpPr>
        <p:spPr>
          <a:xfrm>
            <a:off x="4438247" y="1766089"/>
            <a:ext cx="3315505" cy="1722494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30" name="Google Shape;138;p3">
            <a:extLst>
              <a:ext uri="{FF2B5EF4-FFF2-40B4-BE49-F238E27FC236}">
                <a16:creationId xmlns:a16="http://schemas.microsoft.com/office/drawing/2014/main" id="{47C0469D-D3D0-DFC9-731D-CBCD33D2CC9B}"/>
              </a:ext>
            </a:extLst>
          </p:cNvPr>
          <p:cNvSpPr/>
          <p:nvPr/>
        </p:nvSpPr>
        <p:spPr>
          <a:xfrm>
            <a:off x="8490854" y="1771447"/>
            <a:ext cx="3315505" cy="1722494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315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4EC233-CCC4-C3DA-939E-9DFBC78F7464}"/>
              </a:ext>
            </a:extLst>
          </p:cNvPr>
          <p:cNvSpPr txBox="1"/>
          <p:nvPr/>
        </p:nvSpPr>
        <p:spPr>
          <a:xfrm>
            <a:off x="312420" y="333137"/>
            <a:ext cx="11353800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Challenges in College Event Management</a:t>
            </a:r>
          </a:p>
          <a:p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Manual Processes</a:t>
            </a:r>
            <a:br>
              <a:rPr lang="en-US" sz="2000" dirty="0"/>
            </a:br>
            <a:r>
              <a:rPr lang="en-US" sz="2000" dirty="0"/>
              <a:t>Event management often relies on manual workflows, resulting in time-consuming coordination, higher chances of errors, and difficulty managing events efficiently across multiple colleges.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Low Student Engagement</a:t>
            </a:r>
            <a:br>
              <a:rPr lang="en-US" sz="2000" dirty="0"/>
            </a:br>
            <a:r>
              <a:rPr lang="en-US" sz="2000" dirty="0"/>
              <a:t>Students frequently struggle to discover events that match their interests, leading to low participation rates and reduced overall engagement within the campus community.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Communication Inefficiencies</a:t>
            </a:r>
            <a:br>
              <a:rPr lang="en-US" sz="2000" dirty="0"/>
            </a:br>
            <a:r>
              <a:rPr lang="en-US" sz="2000" dirty="0"/>
              <a:t>Poor communication channels delay important updates and limit effective feedback collection, causing missed opportunities and a lack of real-time information for both organizers and participants.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Need for Centralized Solutions</a:t>
            </a:r>
            <a:br>
              <a:rPr lang="en-US" sz="2000" dirty="0"/>
            </a:br>
            <a:r>
              <a:rPr lang="en-US" sz="2000" dirty="0"/>
              <a:t>Adopting a centralized platform can streamline event management, improve communication, enhance collaboration, and create a more engaging and user-friendly experience for everyone involved.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4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E77339-3E57-0388-31E5-5C1312769B8F}"/>
              </a:ext>
            </a:extLst>
          </p:cNvPr>
          <p:cNvSpPr txBox="1"/>
          <p:nvPr/>
        </p:nvSpPr>
        <p:spPr>
          <a:xfrm>
            <a:off x="472441" y="411480"/>
            <a:ext cx="1130808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System Architecture Overview</a:t>
            </a:r>
          </a:p>
          <a:p>
            <a:endParaRPr lang="en-US" sz="1000" dirty="0"/>
          </a:p>
          <a:p>
            <a:r>
              <a:rPr lang="en-US" dirty="0"/>
              <a:t>The architecture of </a:t>
            </a:r>
            <a:r>
              <a:rPr lang="en-US" i="1" dirty="0" err="1"/>
              <a:t>CampusEventHub</a:t>
            </a:r>
            <a:r>
              <a:rPr lang="en-US" dirty="0"/>
              <a:t> is built using the MEAN stack, ensuring performance, scalability, and efficient data handling across the application.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Client-Side (Angular)</a:t>
            </a:r>
            <a:br>
              <a:rPr lang="en-US" dirty="0"/>
            </a:br>
            <a:r>
              <a:rPr lang="en-US" dirty="0"/>
              <a:t>The frontend is developed using Angular, providing a dynamic and responsive single-page application. It handles user interactions, event browsing, registrations, and communicates with backend services through HTTP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Server-Side (Node.js &amp; Express.js)</a:t>
            </a:r>
            <a:br>
              <a:rPr lang="en-US" dirty="0"/>
            </a:br>
            <a:r>
              <a:rPr lang="en-US" dirty="0"/>
              <a:t>The backend is powered by Node.js with Express.js, responsible for handling business logic, routing, and API development. RESTful APIs enable smooth communication between the frontend and database while maintaining a clean and modular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Layer (MongoDB)</a:t>
            </a:r>
            <a:br>
              <a:rPr lang="en-US" dirty="0"/>
            </a:br>
            <a:r>
              <a:rPr lang="en-US" dirty="0"/>
              <a:t>MongoDB is used as the database, storing data in a flexible, document-based format. It efficiently manages user data, event details, registrations, and feedback, allowing easy scalability and fast data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013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0F76BB-7C0E-4981-EA37-B4DB563A29C7}"/>
              </a:ext>
            </a:extLst>
          </p:cNvPr>
          <p:cNvSpPr txBox="1"/>
          <p:nvPr/>
        </p:nvSpPr>
        <p:spPr>
          <a:xfrm>
            <a:off x="487679" y="975360"/>
            <a:ext cx="112623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API Communication</a:t>
            </a:r>
            <a:br>
              <a:rPr lang="en-US" dirty="0"/>
            </a:br>
            <a:r>
              <a:rPr lang="en-US" dirty="0"/>
              <a:t>RESTful APIs connect Angular with the backend, ensuring secure and structured data exchange. This separation improves maintainability and allows independent development of frontend and backend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Authentication &amp; Security</a:t>
            </a:r>
            <a:br>
              <a:rPr lang="en-US" dirty="0"/>
            </a:br>
            <a:r>
              <a:rPr lang="en-US" dirty="0"/>
              <a:t>JWT (JSON Web Tokens) is implemented for secure authentication and session management. Sensitive data is protected through encryption and validation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Scalability &amp; Performance</a:t>
            </a:r>
            <a:br>
              <a:rPr lang="en-US" dirty="0"/>
            </a:br>
            <a:r>
              <a:rPr lang="en-US" dirty="0"/>
              <a:t>The system supports horizontal scaling, allowing it to handle increasing users and event data without performance degradation. The modular MEAN architecture ensures easy updates and future enhancements.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7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D48028-15B7-4EC5-A0BA-479663A321AC}"/>
              </a:ext>
            </a:extLst>
          </p:cNvPr>
          <p:cNvSpPr txBox="1"/>
          <p:nvPr/>
        </p:nvSpPr>
        <p:spPr>
          <a:xfrm>
            <a:off x="365760" y="426720"/>
            <a:ext cx="11445239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Challenges and Solutions in </a:t>
            </a:r>
            <a:r>
              <a:rPr lang="en-US" sz="2800" b="1" dirty="0" err="1"/>
              <a:t>CampusEventHub</a:t>
            </a:r>
            <a:endParaRPr lang="en-US" sz="2800" b="1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000" b="1" dirty="0"/>
              <a:t>Security Enhancements</a:t>
            </a:r>
            <a:br>
              <a:rPr lang="en-US" sz="2000" dirty="0"/>
            </a:br>
            <a:r>
              <a:rPr lang="en-US" sz="2000" dirty="0"/>
              <a:t>User data security is addressed using JWT-based authentication and backend validation in Node.js. Sensitive data is protected through encryption and controlled access, reducing risks of unauthorized usage.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Scalability Solutions</a:t>
            </a:r>
            <a:br>
              <a:rPr lang="en-US" sz="2000" dirty="0"/>
            </a:br>
            <a:r>
              <a:rPr lang="en-US" sz="2000" dirty="0"/>
              <a:t>The system uses a modular backend with Express.js and a flexible MongoDB database, allowing it to scale efficiently as user traffic and event data increase without slowing down performance.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Improving User Engagement</a:t>
            </a:r>
            <a:br>
              <a:rPr lang="en-US" sz="2000" dirty="0"/>
            </a:br>
            <a:r>
              <a:rPr lang="en-US" sz="2000" dirty="0"/>
              <a:t>Angular provides a responsive and interactive interface with real-time updates, making it easier for students to discover events, register quickly, and stay informed.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Modular Architecture Benefits</a:t>
            </a:r>
            <a:br>
              <a:rPr lang="en-US" sz="2000" dirty="0"/>
            </a:br>
            <a:r>
              <a:rPr lang="en-US" sz="2000" dirty="0"/>
              <a:t>The separation of frontend (Angular), backend (Node.js/Express), and database (MongoDB) ensures easy maintenance, faster development, and the ability to integrate new features without breaking existing functionality.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51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EA6A31-3572-FEB6-9055-D650E906E6B7}"/>
              </a:ext>
            </a:extLst>
          </p:cNvPr>
          <p:cNvSpPr txBox="1"/>
          <p:nvPr/>
        </p:nvSpPr>
        <p:spPr>
          <a:xfrm>
            <a:off x="228600" y="731520"/>
            <a:ext cx="1139952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Measurable Outcomes and Impact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2000" b="1" dirty="0"/>
              <a:t>Increased Event Participation</a:t>
            </a:r>
            <a:br>
              <a:rPr lang="en-US" sz="2000" dirty="0"/>
            </a:br>
            <a:r>
              <a:rPr lang="en-US" sz="2000" dirty="0"/>
              <a:t>The platform improves event visibility and accessibility, leading to higher student participation and better turnout across various college events.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Reduced Manual Coordination</a:t>
            </a:r>
            <a:br>
              <a:rPr lang="en-US" sz="2000" dirty="0"/>
            </a:br>
            <a:r>
              <a:rPr lang="en-US" sz="2000" dirty="0"/>
              <a:t>Automation through the system reduces dependency on manual processes, saving time for organizers and minimizing errors in event planning and management.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b="1" dirty="0"/>
              <a:t>Improved User Experience</a:t>
            </a:r>
            <a:br>
              <a:rPr lang="en-US" sz="2000" dirty="0"/>
            </a:br>
            <a:r>
              <a:rPr lang="en-US" sz="2000" dirty="0"/>
              <a:t>A structured Angular-based interface ensures smooth navigation, faster interactions, and an overall better experience for both students and event organizers.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551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E63416-E400-F5DE-5B28-8C2D9E5E9BD9}"/>
              </a:ext>
            </a:extLst>
          </p:cNvPr>
          <p:cNvSpPr txBox="1"/>
          <p:nvPr/>
        </p:nvSpPr>
        <p:spPr>
          <a:xfrm>
            <a:off x="289560" y="807720"/>
            <a:ext cx="11628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These mock-ups showcase a seamless experience for users, enhancing engagement through intuitive design and functionality.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endParaRPr lang="en-IN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353783-A8A9-333C-0728-87B403BFD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19" y="2575609"/>
            <a:ext cx="8991600" cy="4282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4ED13-D2DF-7176-25DB-4E48AFD05ED2}"/>
              </a:ext>
            </a:extLst>
          </p:cNvPr>
          <p:cNvSpPr txBox="1"/>
          <p:nvPr/>
        </p:nvSpPr>
        <p:spPr>
          <a:xfrm>
            <a:off x="3267260" y="2008049"/>
            <a:ext cx="5444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Student  And College Admin Registration Page</a:t>
            </a:r>
          </a:p>
        </p:txBody>
      </p:sp>
    </p:spTree>
    <p:extLst>
      <p:ext uri="{BB962C8B-B14F-4D97-AF65-F5344CB8AC3E}">
        <p14:creationId xmlns:p14="http://schemas.microsoft.com/office/powerpoint/2010/main" val="348604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E837B-C996-9B01-706A-45B03ED7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68" y="1592580"/>
            <a:ext cx="10815692" cy="51358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8A04FF-D65E-0763-9740-D97D028C8949}"/>
              </a:ext>
            </a:extLst>
          </p:cNvPr>
          <p:cNvSpPr txBox="1"/>
          <p:nvPr/>
        </p:nvSpPr>
        <p:spPr>
          <a:xfrm>
            <a:off x="3581400" y="946249"/>
            <a:ext cx="4727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Student  And College Admin Login Page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5986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149A2C-0DB2-A238-75F3-3C2E8A9C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" y="1654334"/>
            <a:ext cx="10195560" cy="48683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3DBF3D-7748-9233-4822-F63BFADCC17C}"/>
              </a:ext>
            </a:extLst>
          </p:cNvPr>
          <p:cNvSpPr txBox="1"/>
          <p:nvPr/>
        </p:nvSpPr>
        <p:spPr>
          <a:xfrm>
            <a:off x="4197082" y="899160"/>
            <a:ext cx="37978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349517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54CA2F-1200-1B1C-CC94-B932A6B7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496030"/>
            <a:ext cx="10332720" cy="4937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69617F-54F8-1D2A-C946-664FFFE6B89E}"/>
              </a:ext>
            </a:extLst>
          </p:cNvPr>
          <p:cNvSpPr txBox="1"/>
          <p:nvPr/>
        </p:nvSpPr>
        <p:spPr>
          <a:xfrm>
            <a:off x="4345360" y="716280"/>
            <a:ext cx="35012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Student Dashboard</a:t>
            </a:r>
          </a:p>
        </p:txBody>
      </p:sp>
    </p:spTree>
    <p:extLst>
      <p:ext uri="{BB962C8B-B14F-4D97-AF65-F5344CB8AC3E}">
        <p14:creationId xmlns:p14="http://schemas.microsoft.com/office/powerpoint/2010/main" val="3301230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A88DE8EE-6A6F-B2E7-2B83-0E9A50D8A3D5}"/>
              </a:ext>
            </a:extLst>
          </p:cNvPr>
          <p:cNvSpPr txBox="1"/>
          <p:nvPr/>
        </p:nvSpPr>
        <p:spPr>
          <a:xfrm>
            <a:off x="518161" y="746760"/>
            <a:ext cx="110185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Future Enhancements for </a:t>
            </a:r>
            <a:r>
              <a:rPr lang="en-US" sz="3200" b="1" dirty="0" err="1">
                <a:solidFill>
                  <a:srgbClr val="FFFF00"/>
                </a:solidFill>
              </a:rPr>
              <a:t>CampusEventHub</a:t>
            </a:r>
            <a:endParaRPr lang="en-US" sz="3200" b="1" dirty="0">
              <a:solidFill>
                <a:srgbClr val="FFFF00"/>
              </a:solidFill>
            </a:endParaRPr>
          </a:p>
          <a:p>
            <a:endParaRPr lang="en-US" sz="3200" b="1" dirty="0">
              <a:solidFill>
                <a:srgbClr val="FFFF00"/>
              </a:solidFill>
            </a:endParaRPr>
          </a:p>
          <a:p>
            <a:endParaRPr lang="en-US" sz="3200" b="1" dirty="0">
              <a:solidFill>
                <a:srgbClr val="FFFF00"/>
              </a:solidFill>
            </a:endParaRPr>
          </a:p>
          <a:p>
            <a:endParaRPr lang="en-IN" dirty="0"/>
          </a:p>
        </p:txBody>
      </p:sp>
      <p:sp>
        <p:nvSpPr>
          <p:cNvPr id="24" name="Google Shape;294;p10">
            <a:extLst>
              <a:ext uri="{FF2B5EF4-FFF2-40B4-BE49-F238E27FC236}">
                <a16:creationId xmlns:a16="http://schemas.microsoft.com/office/drawing/2014/main" id="{6EB08EC8-EF7B-5552-9F57-F4CB20CD3908}"/>
              </a:ext>
            </a:extLst>
          </p:cNvPr>
          <p:cNvSpPr/>
          <p:nvPr/>
        </p:nvSpPr>
        <p:spPr>
          <a:xfrm>
            <a:off x="518161" y="1638300"/>
            <a:ext cx="3215639" cy="197358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Google Shape;295;p10">
            <a:extLst>
              <a:ext uri="{FF2B5EF4-FFF2-40B4-BE49-F238E27FC236}">
                <a16:creationId xmlns:a16="http://schemas.microsoft.com/office/drawing/2014/main" id="{BDBA267D-33DC-4495-9ADB-58E360104C92}"/>
              </a:ext>
            </a:extLst>
          </p:cNvPr>
          <p:cNvSpPr/>
          <p:nvPr/>
        </p:nvSpPr>
        <p:spPr>
          <a:xfrm>
            <a:off x="4808221" y="1638300"/>
            <a:ext cx="3215639" cy="197358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Google Shape;296;p10">
            <a:extLst>
              <a:ext uri="{FF2B5EF4-FFF2-40B4-BE49-F238E27FC236}">
                <a16:creationId xmlns:a16="http://schemas.microsoft.com/office/drawing/2014/main" id="{A631D64A-6EE7-9E61-6F3A-2CCA94FBB3A1}"/>
              </a:ext>
            </a:extLst>
          </p:cNvPr>
          <p:cNvSpPr/>
          <p:nvPr/>
        </p:nvSpPr>
        <p:spPr>
          <a:xfrm>
            <a:off x="8732521" y="1638300"/>
            <a:ext cx="3215639" cy="1973580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60FCA2-A5AD-8B2A-1BA2-5D067DE6EBE4}"/>
              </a:ext>
            </a:extLst>
          </p:cNvPr>
          <p:cNvSpPr txBox="1"/>
          <p:nvPr/>
        </p:nvSpPr>
        <p:spPr>
          <a:xfrm>
            <a:off x="518160" y="3006120"/>
            <a:ext cx="321564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solidFill>
                <a:srgbClr val="FFFF00"/>
              </a:solidFill>
            </a:endParaRPr>
          </a:p>
          <a:p>
            <a:endParaRPr lang="en-US" dirty="0"/>
          </a:p>
          <a:p>
            <a:pPr algn="ctr"/>
            <a:r>
              <a:rPr lang="en-US" sz="1800" b="1" dirty="0"/>
              <a:t>AI-Based Event Recommendations</a:t>
            </a:r>
          </a:p>
          <a:p>
            <a:br>
              <a:rPr lang="en-US" sz="1800" dirty="0"/>
            </a:b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F89DAC-A5F1-EC33-8E9F-81847F49C2E4}"/>
              </a:ext>
            </a:extLst>
          </p:cNvPr>
          <p:cNvSpPr txBox="1"/>
          <p:nvPr/>
        </p:nvSpPr>
        <p:spPr>
          <a:xfrm>
            <a:off x="4808221" y="3187541"/>
            <a:ext cx="32156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endParaRPr lang="en-US" sz="1800" dirty="0"/>
          </a:p>
          <a:p>
            <a:pPr algn="ctr"/>
            <a:r>
              <a:rPr lang="en-US" sz="1800" b="1" dirty="0"/>
              <a:t>Advanced Analytics Dashboard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800AE5-1682-F027-1BF0-B65ED04361E6}"/>
              </a:ext>
            </a:extLst>
          </p:cNvPr>
          <p:cNvSpPr txBox="1"/>
          <p:nvPr/>
        </p:nvSpPr>
        <p:spPr>
          <a:xfrm>
            <a:off x="8732520" y="3764756"/>
            <a:ext cx="3215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Payment Integration</a:t>
            </a:r>
            <a:endParaRPr lang="en-US" sz="1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C7962C-9800-0E99-C6A6-211196FE99E8}"/>
              </a:ext>
            </a:extLst>
          </p:cNvPr>
          <p:cNvSpPr txBox="1"/>
          <p:nvPr/>
        </p:nvSpPr>
        <p:spPr>
          <a:xfrm>
            <a:off x="518161" y="4379535"/>
            <a:ext cx="32156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Implement basic recommendation logic using user activity and preferences to suggest relevant events. Over time, this can evolve into smarter, data-driven personalization.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9B7C6C-BD3F-7333-4FD3-326FDA0B1FA1}"/>
              </a:ext>
            </a:extLst>
          </p:cNvPr>
          <p:cNvSpPr txBox="1"/>
          <p:nvPr/>
        </p:nvSpPr>
        <p:spPr>
          <a:xfrm>
            <a:off x="4663440" y="4180253"/>
            <a:ext cx="33604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r>
              <a:rPr lang="en-US" sz="1800" dirty="0"/>
              <a:t>Provide admins with real-time insights such as participation rates, event performance, and user engagement to help make better decisions and improve future events.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117632-FA62-C613-32F1-6AF6A6A370E3}"/>
              </a:ext>
            </a:extLst>
          </p:cNvPr>
          <p:cNvSpPr txBox="1"/>
          <p:nvPr/>
        </p:nvSpPr>
        <p:spPr>
          <a:xfrm>
            <a:off x="8732520" y="4044553"/>
            <a:ext cx="32156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dirty="0"/>
            </a:br>
            <a:r>
              <a:rPr lang="en-US" sz="1800" dirty="0"/>
              <a:t>Introduce secure online payment options for paid events, supporting methods like UPI, cards, and wallets, with proper validation and transaction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593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D7AEA1-7A19-9FEE-1B74-28F3FEB018B4}"/>
              </a:ext>
            </a:extLst>
          </p:cNvPr>
          <p:cNvSpPr txBox="1"/>
          <p:nvPr/>
        </p:nvSpPr>
        <p:spPr>
          <a:xfrm>
            <a:off x="1307939" y="1226916"/>
            <a:ext cx="9850056" cy="4798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5400" b="1" u="sng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</a:p>
          <a:p>
            <a:pPr lvl="0">
              <a:lnSpc>
                <a:spcPct val="140000"/>
              </a:lnSpc>
            </a:pPr>
            <a:endParaRPr lang="en-US" sz="300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lvl="0">
              <a:lnSpc>
                <a:spcPct val="140000"/>
              </a:lnSpc>
            </a:pPr>
            <a:r>
              <a:rPr lang="en-US" sz="36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Manas Shukla                            Akash Pandey</a:t>
            </a:r>
          </a:p>
          <a:p>
            <a:pPr lvl="0">
              <a:lnSpc>
                <a:spcPct val="140000"/>
              </a:lnSpc>
            </a:pPr>
            <a:r>
              <a:rPr lang="en-US" sz="36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Sumit Kumar Sahoo                      </a:t>
            </a:r>
            <a:r>
              <a:rPr lang="en-US" sz="360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Shoeb</a:t>
            </a:r>
            <a:r>
              <a:rPr lang="en-US" sz="36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Raza</a:t>
            </a:r>
          </a:p>
          <a:p>
            <a:pPr lvl="0">
              <a:lnSpc>
                <a:spcPct val="140000"/>
              </a:lnSpc>
            </a:pPr>
            <a:r>
              <a:rPr lang="en-US" sz="36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Navyasree </a:t>
            </a:r>
            <a:r>
              <a:rPr lang="en-US" sz="360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Ulava</a:t>
            </a:r>
            <a:r>
              <a:rPr lang="en-US" sz="36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                         Nidhi Kumari</a:t>
            </a:r>
          </a:p>
          <a:p>
            <a:pPr lvl="0" algn="ctr">
              <a:lnSpc>
                <a:spcPct val="140000"/>
              </a:lnSpc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995716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9A07AD-4ADD-343C-7F48-BA1E5BE58A6E}"/>
              </a:ext>
            </a:extLst>
          </p:cNvPr>
          <p:cNvSpPr txBox="1"/>
          <p:nvPr/>
        </p:nvSpPr>
        <p:spPr>
          <a:xfrm>
            <a:off x="4816997" y="2875002"/>
            <a:ext cx="255800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rial Rounded MT Bold" panose="020F0704030504030204" pitchFamily="34" charset="0"/>
              </a:rPr>
              <a:t>Q n A</a:t>
            </a:r>
          </a:p>
        </p:txBody>
      </p:sp>
    </p:spTree>
    <p:extLst>
      <p:ext uri="{BB962C8B-B14F-4D97-AF65-F5344CB8AC3E}">
        <p14:creationId xmlns:p14="http://schemas.microsoft.com/office/powerpoint/2010/main" val="446487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A3F541-A6E7-81A6-61D3-90E894D71A0D}"/>
              </a:ext>
            </a:extLst>
          </p:cNvPr>
          <p:cNvSpPr txBox="1"/>
          <p:nvPr/>
        </p:nvSpPr>
        <p:spPr>
          <a:xfrm>
            <a:off x="4006769" y="2921168"/>
            <a:ext cx="41784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4955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122</TotalTime>
  <Words>913</Words>
  <Application>Microsoft Office PowerPoint</Application>
  <PresentationFormat>Widescreen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Algerian</vt:lpstr>
      <vt:lpstr>Arial</vt:lpstr>
      <vt:lpstr>Arial Rounded MT Bold</vt:lpstr>
      <vt:lpstr>Bahnschrift Light</vt:lpstr>
      <vt:lpstr>Bricolage Grotesque</vt:lpstr>
      <vt:lpstr>Bricolage Grotesque SemiBold</vt:lpstr>
      <vt:lpstr>Calibri</vt:lpstr>
      <vt:lpstr>Century Gothic</vt:lpstr>
      <vt:lpstr>Stencil</vt:lpstr>
      <vt:lpstr>Swis721 WGL4 BT</vt:lpstr>
      <vt:lpstr>Times</vt:lpstr>
      <vt:lpstr>Mesh</vt:lpstr>
      <vt:lpstr>CampusEventHub  </vt:lpstr>
      <vt:lpstr>Technology Stack  MongoDB:- MongoDB provides a flexible document structure, ideal for handling various data types efficiently.  Express.js:-Express.js simplifies server-side development, enabling quick API creation with minimal overhead for applications.  Angular:-  Angular is a TypeScript-based framework by Google for building dynamic web applications.   Node.js:-Node.js lets developers use JavaScript to write command line tools and server-side scripting.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Shukla</dc:creator>
  <cp:lastModifiedBy>Manas Shukla</cp:lastModifiedBy>
  <cp:revision>1</cp:revision>
  <cp:lastPrinted>2026-04-10T13:24:53Z</cp:lastPrinted>
  <dcterms:created xsi:type="dcterms:W3CDTF">2026-04-10T11:30:16Z</dcterms:created>
  <dcterms:modified xsi:type="dcterms:W3CDTF">2026-04-10T13:33:14Z</dcterms:modified>
</cp:coreProperties>
</file>